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>
      <p:cViewPr varScale="1">
        <p:scale>
          <a:sx n="65" d="100"/>
          <a:sy n="65" d="100"/>
        </p:scale>
        <p:origin x="134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58775"/>
            <a:ext cx="9144000" cy="139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01751"/>
            <a:ext cx="9144000" cy="2381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687" y="595376"/>
            <a:ext cx="603250" cy="630555"/>
          </a:xfrm>
          <a:custGeom>
            <a:avLst/>
            <a:gdLst/>
            <a:ahLst/>
            <a:cxnLst/>
            <a:rect l="l" t="t" r="r" b="b"/>
            <a:pathLst>
              <a:path w="603250" h="630555">
                <a:moveTo>
                  <a:pt x="301625" y="0"/>
                </a:moveTo>
                <a:lnTo>
                  <a:pt x="257052" y="3414"/>
                </a:lnTo>
                <a:lnTo>
                  <a:pt x="214510" y="13332"/>
                </a:lnTo>
                <a:lnTo>
                  <a:pt x="174466" y="29268"/>
                </a:lnTo>
                <a:lnTo>
                  <a:pt x="137385" y="50737"/>
                </a:lnTo>
                <a:lnTo>
                  <a:pt x="103735" y="77251"/>
                </a:lnTo>
                <a:lnTo>
                  <a:pt x="73982" y="108326"/>
                </a:lnTo>
                <a:lnTo>
                  <a:pt x="48592" y="143474"/>
                </a:lnTo>
                <a:lnTo>
                  <a:pt x="28033" y="182211"/>
                </a:lnTo>
                <a:lnTo>
                  <a:pt x="12770" y="224049"/>
                </a:lnTo>
                <a:lnTo>
                  <a:pt x="3270" y="268503"/>
                </a:lnTo>
                <a:lnTo>
                  <a:pt x="0" y="315087"/>
                </a:lnTo>
                <a:lnTo>
                  <a:pt x="3270" y="361641"/>
                </a:lnTo>
                <a:lnTo>
                  <a:pt x="12770" y="406078"/>
                </a:lnTo>
                <a:lnTo>
                  <a:pt x="28033" y="447907"/>
                </a:lnTo>
                <a:lnTo>
                  <a:pt x="48592" y="486642"/>
                </a:lnTo>
                <a:lnTo>
                  <a:pt x="73982" y="521795"/>
                </a:lnTo>
                <a:lnTo>
                  <a:pt x="103735" y="552879"/>
                </a:lnTo>
                <a:lnTo>
                  <a:pt x="137385" y="579404"/>
                </a:lnTo>
                <a:lnTo>
                  <a:pt x="174466" y="600884"/>
                </a:lnTo>
                <a:lnTo>
                  <a:pt x="214510" y="616831"/>
                </a:lnTo>
                <a:lnTo>
                  <a:pt x="257052" y="626757"/>
                </a:lnTo>
                <a:lnTo>
                  <a:pt x="301625" y="630174"/>
                </a:lnTo>
                <a:lnTo>
                  <a:pt x="346197" y="626757"/>
                </a:lnTo>
                <a:lnTo>
                  <a:pt x="388739" y="616831"/>
                </a:lnTo>
                <a:lnTo>
                  <a:pt x="428783" y="600884"/>
                </a:lnTo>
                <a:lnTo>
                  <a:pt x="465864" y="579404"/>
                </a:lnTo>
                <a:lnTo>
                  <a:pt x="499514" y="552879"/>
                </a:lnTo>
                <a:lnTo>
                  <a:pt x="529267" y="521795"/>
                </a:lnTo>
                <a:lnTo>
                  <a:pt x="554657" y="486642"/>
                </a:lnTo>
                <a:lnTo>
                  <a:pt x="575216" y="447907"/>
                </a:lnTo>
                <a:lnTo>
                  <a:pt x="590479" y="406078"/>
                </a:lnTo>
                <a:lnTo>
                  <a:pt x="599979" y="361641"/>
                </a:lnTo>
                <a:lnTo>
                  <a:pt x="603250" y="315087"/>
                </a:lnTo>
                <a:lnTo>
                  <a:pt x="599979" y="268503"/>
                </a:lnTo>
                <a:lnTo>
                  <a:pt x="590479" y="224049"/>
                </a:lnTo>
                <a:lnTo>
                  <a:pt x="575216" y="182211"/>
                </a:lnTo>
                <a:lnTo>
                  <a:pt x="554657" y="143474"/>
                </a:lnTo>
                <a:lnTo>
                  <a:pt x="529267" y="108326"/>
                </a:lnTo>
                <a:lnTo>
                  <a:pt x="499514" y="77251"/>
                </a:lnTo>
                <a:lnTo>
                  <a:pt x="465864" y="50737"/>
                </a:lnTo>
                <a:lnTo>
                  <a:pt x="428783" y="29268"/>
                </a:lnTo>
                <a:lnTo>
                  <a:pt x="388739" y="13332"/>
                </a:lnTo>
                <a:lnTo>
                  <a:pt x="346197" y="3414"/>
                </a:lnTo>
                <a:lnTo>
                  <a:pt x="3016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612" y="647763"/>
            <a:ext cx="522287" cy="5222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416" y="1356969"/>
            <a:ext cx="7723505" cy="4599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4825"/>
            <a:ext cx="9144000" cy="993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473700"/>
            <a:ext cx="9134475" cy="13843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6575" y="68326"/>
            <a:ext cx="1720850" cy="1812925"/>
            <a:chOff x="536575" y="68326"/>
            <a:chExt cx="1720850" cy="1812925"/>
          </a:xfrm>
        </p:grpSpPr>
        <p:sp>
          <p:nvSpPr>
            <p:cNvPr id="5" name="object 5"/>
            <p:cNvSpPr/>
            <p:nvPr/>
          </p:nvSpPr>
          <p:spPr>
            <a:xfrm>
              <a:off x="536575" y="68326"/>
              <a:ext cx="1720850" cy="1812925"/>
            </a:xfrm>
            <a:custGeom>
              <a:avLst/>
              <a:gdLst/>
              <a:ahLst/>
              <a:cxnLst/>
              <a:rect l="l" t="t" r="r" b="b"/>
              <a:pathLst>
                <a:path w="1720850" h="1812925">
                  <a:moveTo>
                    <a:pt x="860425" y="0"/>
                  </a:moveTo>
                  <a:lnTo>
                    <a:pt x="813216" y="1341"/>
                  </a:lnTo>
                  <a:lnTo>
                    <a:pt x="766672" y="5318"/>
                  </a:lnTo>
                  <a:lnTo>
                    <a:pt x="720860" y="11862"/>
                  </a:lnTo>
                  <a:lnTo>
                    <a:pt x="675844" y="20903"/>
                  </a:lnTo>
                  <a:lnTo>
                    <a:pt x="631691" y="32374"/>
                  </a:lnTo>
                  <a:lnTo>
                    <a:pt x="588465" y="46204"/>
                  </a:lnTo>
                  <a:lnTo>
                    <a:pt x="546233" y="62325"/>
                  </a:lnTo>
                  <a:lnTo>
                    <a:pt x="505060" y="80667"/>
                  </a:lnTo>
                  <a:lnTo>
                    <a:pt x="465011" y="101162"/>
                  </a:lnTo>
                  <a:lnTo>
                    <a:pt x="426153" y="123740"/>
                  </a:lnTo>
                  <a:lnTo>
                    <a:pt x="388551" y="148332"/>
                  </a:lnTo>
                  <a:lnTo>
                    <a:pt x="352270" y="174869"/>
                  </a:lnTo>
                  <a:lnTo>
                    <a:pt x="317377" y="203283"/>
                  </a:lnTo>
                  <a:lnTo>
                    <a:pt x="283936" y="233503"/>
                  </a:lnTo>
                  <a:lnTo>
                    <a:pt x="252014" y="265461"/>
                  </a:lnTo>
                  <a:lnTo>
                    <a:pt x="221675" y="299088"/>
                  </a:lnTo>
                  <a:lnTo>
                    <a:pt x="192986" y="334315"/>
                  </a:lnTo>
                  <a:lnTo>
                    <a:pt x="166013" y="371072"/>
                  </a:lnTo>
                  <a:lnTo>
                    <a:pt x="140820" y="409291"/>
                  </a:lnTo>
                  <a:lnTo>
                    <a:pt x="117474" y="448902"/>
                  </a:lnTo>
                  <a:lnTo>
                    <a:pt x="96039" y="489837"/>
                  </a:lnTo>
                  <a:lnTo>
                    <a:pt x="76583" y="532026"/>
                  </a:lnTo>
                  <a:lnTo>
                    <a:pt x="59169" y="575400"/>
                  </a:lnTo>
                  <a:lnTo>
                    <a:pt x="43865" y="619890"/>
                  </a:lnTo>
                  <a:lnTo>
                    <a:pt x="30735" y="665427"/>
                  </a:lnTo>
                  <a:lnTo>
                    <a:pt x="19845" y="711942"/>
                  </a:lnTo>
                  <a:lnTo>
                    <a:pt x="11261" y="759365"/>
                  </a:lnTo>
                  <a:lnTo>
                    <a:pt x="5048" y="807629"/>
                  </a:lnTo>
                  <a:lnTo>
                    <a:pt x="1273" y="856663"/>
                  </a:lnTo>
                  <a:lnTo>
                    <a:pt x="0" y="906399"/>
                  </a:lnTo>
                  <a:lnTo>
                    <a:pt x="1273" y="956135"/>
                  </a:lnTo>
                  <a:lnTo>
                    <a:pt x="5048" y="1005170"/>
                  </a:lnTo>
                  <a:lnTo>
                    <a:pt x="11261" y="1053435"/>
                  </a:lnTo>
                  <a:lnTo>
                    <a:pt x="19845" y="1100862"/>
                  </a:lnTo>
                  <a:lnTo>
                    <a:pt x="30735" y="1147380"/>
                  </a:lnTo>
                  <a:lnTo>
                    <a:pt x="43865" y="1192921"/>
                  </a:lnTo>
                  <a:lnTo>
                    <a:pt x="59169" y="1237415"/>
                  </a:lnTo>
                  <a:lnTo>
                    <a:pt x="76583" y="1280794"/>
                  </a:lnTo>
                  <a:lnTo>
                    <a:pt x="96039" y="1322988"/>
                  </a:lnTo>
                  <a:lnTo>
                    <a:pt x="117474" y="1363928"/>
                  </a:lnTo>
                  <a:lnTo>
                    <a:pt x="140820" y="1403545"/>
                  </a:lnTo>
                  <a:lnTo>
                    <a:pt x="166013" y="1441770"/>
                  </a:lnTo>
                  <a:lnTo>
                    <a:pt x="192986" y="1478533"/>
                  </a:lnTo>
                  <a:lnTo>
                    <a:pt x="221675" y="1513766"/>
                  </a:lnTo>
                  <a:lnTo>
                    <a:pt x="252014" y="1547399"/>
                  </a:lnTo>
                  <a:lnTo>
                    <a:pt x="283936" y="1579364"/>
                  </a:lnTo>
                  <a:lnTo>
                    <a:pt x="317377" y="1609590"/>
                  </a:lnTo>
                  <a:lnTo>
                    <a:pt x="352270" y="1638010"/>
                  </a:lnTo>
                  <a:lnTo>
                    <a:pt x="388551" y="1664553"/>
                  </a:lnTo>
                  <a:lnTo>
                    <a:pt x="426153" y="1689151"/>
                  </a:lnTo>
                  <a:lnTo>
                    <a:pt x="465011" y="1711735"/>
                  </a:lnTo>
                  <a:lnTo>
                    <a:pt x="505060" y="1732235"/>
                  </a:lnTo>
                  <a:lnTo>
                    <a:pt x="546233" y="1750582"/>
                  </a:lnTo>
                  <a:lnTo>
                    <a:pt x="588465" y="1766707"/>
                  </a:lnTo>
                  <a:lnTo>
                    <a:pt x="631691" y="1780541"/>
                  </a:lnTo>
                  <a:lnTo>
                    <a:pt x="675844" y="1792014"/>
                  </a:lnTo>
                  <a:lnTo>
                    <a:pt x="720860" y="1801059"/>
                  </a:lnTo>
                  <a:lnTo>
                    <a:pt x="766672" y="1807605"/>
                  </a:lnTo>
                  <a:lnTo>
                    <a:pt x="813216" y="1811583"/>
                  </a:lnTo>
                  <a:lnTo>
                    <a:pt x="860425" y="1812925"/>
                  </a:lnTo>
                  <a:lnTo>
                    <a:pt x="907637" y="1811583"/>
                  </a:lnTo>
                  <a:lnTo>
                    <a:pt x="954183" y="1807605"/>
                  </a:lnTo>
                  <a:lnTo>
                    <a:pt x="999998" y="1801059"/>
                  </a:lnTo>
                  <a:lnTo>
                    <a:pt x="1045016" y="1792014"/>
                  </a:lnTo>
                  <a:lnTo>
                    <a:pt x="1089171" y="1780541"/>
                  </a:lnTo>
                  <a:lnTo>
                    <a:pt x="1132399" y="1766707"/>
                  </a:lnTo>
                  <a:lnTo>
                    <a:pt x="1174632" y="1750582"/>
                  </a:lnTo>
                  <a:lnTo>
                    <a:pt x="1215806" y="1732235"/>
                  </a:lnTo>
                  <a:lnTo>
                    <a:pt x="1255854" y="1711735"/>
                  </a:lnTo>
                  <a:lnTo>
                    <a:pt x="1294713" y="1689151"/>
                  </a:lnTo>
                  <a:lnTo>
                    <a:pt x="1332315" y="1664553"/>
                  </a:lnTo>
                  <a:lnTo>
                    <a:pt x="1368595" y="1638010"/>
                  </a:lnTo>
                  <a:lnTo>
                    <a:pt x="1403488" y="1609590"/>
                  </a:lnTo>
                  <a:lnTo>
                    <a:pt x="1436928" y="1579364"/>
                  </a:lnTo>
                  <a:lnTo>
                    <a:pt x="1468850" y="1547399"/>
                  </a:lnTo>
                  <a:lnTo>
                    <a:pt x="1499187" y="1513766"/>
                  </a:lnTo>
                  <a:lnTo>
                    <a:pt x="1527875" y="1478533"/>
                  </a:lnTo>
                  <a:lnTo>
                    <a:pt x="1554847" y="1441770"/>
                  </a:lnTo>
                  <a:lnTo>
                    <a:pt x="1580039" y="1403545"/>
                  </a:lnTo>
                  <a:lnTo>
                    <a:pt x="1603384" y="1363928"/>
                  </a:lnTo>
                  <a:lnTo>
                    <a:pt x="1624817" y="1322988"/>
                  </a:lnTo>
                  <a:lnTo>
                    <a:pt x="1644272" y="1280794"/>
                  </a:lnTo>
                  <a:lnTo>
                    <a:pt x="1661684" y="1237415"/>
                  </a:lnTo>
                  <a:lnTo>
                    <a:pt x="1676988" y="1192921"/>
                  </a:lnTo>
                  <a:lnTo>
                    <a:pt x="1690117" y="1147380"/>
                  </a:lnTo>
                  <a:lnTo>
                    <a:pt x="1701006" y="1100862"/>
                  </a:lnTo>
                  <a:lnTo>
                    <a:pt x="1709589" y="1053435"/>
                  </a:lnTo>
                  <a:lnTo>
                    <a:pt x="1715801" y="1005170"/>
                  </a:lnTo>
                  <a:lnTo>
                    <a:pt x="1719576" y="956135"/>
                  </a:lnTo>
                  <a:lnTo>
                    <a:pt x="1720850" y="906399"/>
                  </a:lnTo>
                  <a:lnTo>
                    <a:pt x="1719576" y="856663"/>
                  </a:lnTo>
                  <a:lnTo>
                    <a:pt x="1715801" y="807629"/>
                  </a:lnTo>
                  <a:lnTo>
                    <a:pt x="1709589" y="759365"/>
                  </a:lnTo>
                  <a:lnTo>
                    <a:pt x="1701006" y="711942"/>
                  </a:lnTo>
                  <a:lnTo>
                    <a:pt x="1690117" y="665427"/>
                  </a:lnTo>
                  <a:lnTo>
                    <a:pt x="1676988" y="619890"/>
                  </a:lnTo>
                  <a:lnTo>
                    <a:pt x="1661684" y="575400"/>
                  </a:lnTo>
                  <a:lnTo>
                    <a:pt x="1644272" y="532026"/>
                  </a:lnTo>
                  <a:lnTo>
                    <a:pt x="1624817" y="489837"/>
                  </a:lnTo>
                  <a:lnTo>
                    <a:pt x="1603384" y="448902"/>
                  </a:lnTo>
                  <a:lnTo>
                    <a:pt x="1580039" y="409291"/>
                  </a:lnTo>
                  <a:lnTo>
                    <a:pt x="1554847" y="371072"/>
                  </a:lnTo>
                  <a:lnTo>
                    <a:pt x="1527875" y="334315"/>
                  </a:lnTo>
                  <a:lnTo>
                    <a:pt x="1499187" y="299088"/>
                  </a:lnTo>
                  <a:lnTo>
                    <a:pt x="1468850" y="265461"/>
                  </a:lnTo>
                  <a:lnTo>
                    <a:pt x="1436928" y="233503"/>
                  </a:lnTo>
                  <a:lnTo>
                    <a:pt x="1403488" y="203283"/>
                  </a:lnTo>
                  <a:lnTo>
                    <a:pt x="1368595" y="174869"/>
                  </a:lnTo>
                  <a:lnTo>
                    <a:pt x="1332315" y="148332"/>
                  </a:lnTo>
                  <a:lnTo>
                    <a:pt x="1294713" y="123740"/>
                  </a:lnTo>
                  <a:lnTo>
                    <a:pt x="1255854" y="101162"/>
                  </a:lnTo>
                  <a:lnTo>
                    <a:pt x="1215806" y="80667"/>
                  </a:lnTo>
                  <a:lnTo>
                    <a:pt x="1174632" y="62325"/>
                  </a:lnTo>
                  <a:lnTo>
                    <a:pt x="1132399" y="46204"/>
                  </a:lnTo>
                  <a:lnTo>
                    <a:pt x="1089171" y="32374"/>
                  </a:lnTo>
                  <a:lnTo>
                    <a:pt x="1045016" y="20903"/>
                  </a:lnTo>
                  <a:lnTo>
                    <a:pt x="999998" y="11862"/>
                  </a:lnTo>
                  <a:lnTo>
                    <a:pt x="954183" y="5318"/>
                  </a:lnTo>
                  <a:lnTo>
                    <a:pt x="907637" y="1341"/>
                  </a:lnTo>
                  <a:lnTo>
                    <a:pt x="860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275" y="284098"/>
              <a:ext cx="1417701" cy="14192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0601" rIns="0" bIns="0" rtlCol="0">
            <a:spAutoFit/>
          </a:bodyPr>
          <a:lstStyle/>
          <a:p>
            <a:pPr marL="26111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</a:rPr>
              <a:t>TRƯỜNG</a:t>
            </a:r>
            <a:r>
              <a:rPr sz="2400" spc="-40" dirty="0">
                <a:solidFill>
                  <a:srgbClr val="FFFF00"/>
                </a:solidFill>
              </a:rPr>
              <a:t> </a:t>
            </a:r>
            <a:r>
              <a:rPr sz="2400" dirty="0">
                <a:solidFill>
                  <a:srgbClr val="FFFF00"/>
                </a:solidFill>
              </a:rPr>
              <a:t>ĐẠI</a:t>
            </a:r>
            <a:r>
              <a:rPr sz="2400" spc="-40" dirty="0">
                <a:solidFill>
                  <a:srgbClr val="FFFF00"/>
                </a:solidFill>
              </a:rPr>
              <a:t> </a:t>
            </a:r>
            <a:r>
              <a:rPr sz="2400" dirty="0">
                <a:solidFill>
                  <a:srgbClr val="FFFF00"/>
                </a:solidFill>
              </a:rPr>
              <a:t>HỌC</a:t>
            </a:r>
            <a:r>
              <a:rPr sz="2400" spc="-100" dirty="0">
                <a:solidFill>
                  <a:srgbClr val="FFFF00"/>
                </a:solidFill>
              </a:rPr>
              <a:t> </a:t>
            </a:r>
            <a:r>
              <a:rPr sz="2400" dirty="0">
                <a:solidFill>
                  <a:srgbClr val="FFFF00"/>
                </a:solidFill>
              </a:rPr>
              <a:t>TRÀ</a:t>
            </a:r>
            <a:r>
              <a:rPr sz="2400" spc="-75" dirty="0">
                <a:solidFill>
                  <a:srgbClr val="FFFF00"/>
                </a:solidFill>
              </a:rPr>
              <a:t> </a:t>
            </a:r>
            <a:r>
              <a:rPr sz="2400" spc="-20" dirty="0">
                <a:solidFill>
                  <a:srgbClr val="FFFF00"/>
                </a:solidFill>
              </a:rPr>
              <a:t>VINH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690168" y="1800605"/>
            <a:ext cx="1318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Impact"/>
                <a:cs typeface="Impact"/>
              </a:rPr>
              <a:t>ISO</a:t>
            </a:r>
            <a:r>
              <a:rPr sz="1800" spc="-25" dirty="0">
                <a:solidFill>
                  <a:srgbClr val="FF0000"/>
                </a:solidFill>
                <a:latin typeface="Impact"/>
                <a:cs typeface="Impac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Impact"/>
                <a:cs typeface="Impact"/>
              </a:rPr>
              <a:t>9001:2015</a:t>
            </a:r>
            <a:endParaRPr sz="1800">
              <a:latin typeface="Impact"/>
              <a:cs typeface="Impac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0800" y="2311285"/>
            <a:ext cx="5806185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ỨNG DỤNG WEB HỌC TIẾNG ANH DÀNH CHO NGƯỜI KHMER Ở NÔNG THÔN</a:t>
            </a:r>
            <a:endParaRPr lang="vi-V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0301" y="6118352"/>
            <a:ext cx="307809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200" i="1" spc="-10">
                <a:solidFill>
                  <a:srgbClr val="17375E"/>
                </a:solidFill>
                <a:latin typeface="Times New Roman"/>
                <a:cs typeface="Times New Roman"/>
              </a:rPr>
              <a:t>Vĩnh Long</a:t>
            </a:r>
            <a:r>
              <a:rPr sz="2200" i="1" spc="-20">
                <a:solidFill>
                  <a:srgbClr val="17375E"/>
                </a:solidFill>
                <a:latin typeface="Times New Roman"/>
                <a:cs typeface="Times New Roman"/>
              </a:rPr>
              <a:t>,</a:t>
            </a:r>
            <a:r>
              <a:rPr sz="2200" i="1" spc="-9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sz="2200" i="1" err="1">
                <a:solidFill>
                  <a:srgbClr val="17375E"/>
                </a:solidFill>
                <a:latin typeface="Times New Roman"/>
                <a:cs typeface="Times New Roman"/>
              </a:rPr>
              <a:t>tháng</a:t>
            </a:r>
            <a:r>
              <a:rPr sz="2200" i="1" spc="-9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lang="en-US" sz="2200" i="1" spc="-10">
                <a:solidFill>
                  <a:srgbClr val="17375E"/>
                </a:solidFill>
                <a:latin typeface="Times New Roman"/>
                <a:cs typeface="Times New Roman"/>
              </a:rPr>
              <a:t>1</a:t>
            </a:r>
            <a:r>
              <a:rPr lang="en-US" sz="2200" i="1" spc="-10" dirty="0">
                <a:solidFill>
                  <a:srgbClr val="17375E"/>
                </a:solidFill>
                <a:latin typeface="Times New Roman"/>
                <a:cs typeface="Times New Roman"/>
              </a:rPr>
              <a:t>2</a:t>
            </a:r>
            <a:r>
              <a:rPr sz="2200" i="1" spc="-10">
                <a:solidFill>
                  <a:srgbClr val="17375E"/>
                </a:solidFill>
                <a:latin typeface="Times New Roman"/>
                <a:cs typeface="Times New Roman"/>
              </a:rPr>
              <a:t>/</a:t>
            </a:r>
            <a:r>
              <a:rPr lang="vi-VN" sz="2200" i="1" spc="-10" dirty="0">
                <a:solidFill>
                  <a:srgbClr val="17375E"/>
                </a:solidFill>
                <a:latin typeface="Times New Roman"/>
                <a:cs typeface="Times New Roman"/>
              </a:rPr>
              <a:t>2025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3CEEC1D-5513-B033-B3E5-24F99D45E3C7}"/>
              </a:ext>
            </a:extLst>
          </p:cNvPr>
          <p:cNvSpPr txBox="1"/>
          <p:nvPr/>
        </p:nvSpPr>
        <p:spPr>
          <a:xfrm>
            <a:off x="541920" y="4374318"/>
            <a:ext cx="8607425" cy="1701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 dirty="0">
                <a:latin typeface="+mj-lt"/>
              </a:rPr>
              <a:t>Giáo viên hướng dẫn</a:t>
            </a:r>
            <a:r>
              <a:rPr lang="vi-VN" sz="2000">
                <a:latin typeface="+mj-lt"/>
              </a:rPr>
              <a:t>: </a:t>
            </a:r>
            <a:r>
              <a:rPr lang="vi-VN" sz="2000" b="1">
                <a:latin typeface="+mj-lt"/>
              </a:rPr>
              <a:t>TS.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THẠCH KỌNG SAOANE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>
                <a:latin typeface="+mj-lt"/>
              </a:rPr>
              <a:t>Sinh </a:t>
            </a:r>
            <a:r>
              <a:rPr lang="vi-VN" sz="2000" dirty="0">
                <a:latin typeface="+mj-lt"/>
              </a:rPr>
              <a:t>viên thực hiện: </a:t>
            </a:r>
            <a:r>
              <a:rPr lang="vi-VN" sz="2000" b="1" dirty="0">
                <a:latin typeface="+mj-lt"/>
              </a:rPr>
              <a:t>MAI TRẦN THANH NHẬT </a:t>
            </a:r>
            <a:r>
              <a:rPr lang="vi-VN" sz="2000" dirty="0" err="1">
                <a:latin typeface="+mj-lt"/>
              </a:rPr>
              <a:t>Mssv</a:t>
            </a:r>
            <a:r>
              <a:rPr lang="vi-VN" sz="2000" dirty="0">
                <a:latin typeface="+mj-lt"/>
              </a:rPr>
              <a:t>: </a:t>
            </a:r>
            <a:r>
              <a:rPr lang="vi-VN" sz="2000" b="1" dirty="0">
                <a:latin typeface="+mj-lt"/>
              </a:rPr>
              <a:t>110122017 </a:t>
            </a:r>
            <a:endParaRPr lang="en-US" sz="2000" b="1" dirty="0">
              <a:latin typeface="+mj-lt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 dirty="0">
                <a:latin typeface="+mj-lt"/>
              </a:rPr>
              <a:t>Lớp: </a:t>
            </a:r>
            <a:r>
              <a:rPr lang="vi-VN" sz="2000" b="1" dirty="0">
                <a:latin typeface="+mj-lt"/>
              </a:rPr>
              <a:t>DA22TTA </a:t>
            </a:r>
            <a:endParaRPr lang="en-US" sz="2000" b="1" dirty="0">
              <a:latin typeface="+mj-lt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 dirty="0">
                <a:latin typeface="+mj-lt"/>
              </a:rPr>
              <a:t>Khóa: </a:t>
            </a:r>
            <a:r>
              <a:rPr lang="vi-VN" sz="2000" b="1" dirty="0">
                <a:latin typeface="+mj-lt"/>
              </a:rPr>
              <a:t>2022 – 2026</a:t>
            </a:r>
            <a:endParaRPr lang="en-US" sz="2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D7A5ED13-7E22-544B-5B1F-69C20183219C}"/>
              </a:ext>
            </a:extLst>
          </p:cNvPr>
          <p:cNvSpPr txBox="1"/>
          <p:nvPr/>
        </p:nvSpPr>
        <p:spPr>
          <a:xfrm>
            <a:off x="2511425" y="1634567"/>
            <a:ext cx="6096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 ÁN CHUYÊN NGÀNH</a:t>
            </a:r>
            <a:endParaRPr lang="vi-V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E10661-6195-15D9-1ED1-F916C676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 lIns="0" tIns="0" rIns="0" bIns="0">
            <a:normAutofit/>
          </a:bodyPr>
          <a:lstStyle/>
          <a:p>
            <a:r>
              <a:rPr lang="en-US" b="1" i="0">
                <a:latin typeface="Times New Roman"/>
                <a:ea typeface="+mj-ea"/>
                <a:cs typeface="Times New Roman"/>
              </a:rPr>
              <a:t>ĐẶT VẤN ĐỀ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1FC46-D2DE-9A2F-E4CB-CBF4BAE3C84B}"/>
              </a:ext>
            </a:extLst>
          </p:cNvPr>
          <p:cNvSpPr txBox="1"/>
          <p:nvPr/>
        </p:nvSpPr>
        <p:spPr>
          <a:xfrm>
            <a:off x="915416" y="1356969"/>
            <a:ext cx="7723505" cy="4599305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Bối cảnh: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Tiếng Anh là công cụ thiết yếu để hội nhập và tiếp cận tri thức.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Thực trạng tại ĐBSCL: Sự chênh lệch lớn về điều kiện giáo dục giữa các vùng miền.</a:t>
            </a:r>
          </a:p>
          <a:p>
            <a:pPr>
              <a:spcAft>
                <a:spcPts val="600"/>
              </a:spcAft>
            </a:pPr>
            <a:r>
              <a:rPr lang="en-US" sz="2400" b="1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Thách thức của người Khmer nông thôn: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Rào cản kép: Địa lý/Kinh tế (xa trung tâm, chi phí cao) và Ngôn ngữ (học qua tiếng Việt gây áp lực nhận thức).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Hạ tầng: Mạng Internet chập chờn, thiết bị cấu hình thấp.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F388-B2E8-14B8-F823-3C7C2700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LÝ DO CHỌN ĐỀ TÀI</a:t>
            </a:r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DD6F9-2B19-E537-9981-004D4C33AF3D}"/>
              </a:ext>
            </a:extLst>
          </p:cNvPr>
          <p:cNvSpPr txBox="1"/>
          <p:nvPr/>
        </p:nvSpPr>
        <p:spPr>
          <a:xfrm>
            <a:off x="899413" y="1676400"/>
            <a:ext cx="7482587" cy="421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Vấn đề cấp thiết: </a:t>
            </a:r>
            <a:r>
              <a:rPr lang="vi-VN" sz="2400">
                <a:latin typeface="+mj-lt"/>
              </a:rPr>
              <a:t>Các ứng dụng hiện có thường yêu cầu cấu hình cao và thiết kế theo tư duy người Kinh, chưa phù hợp với đồng bào Khmer.</a:t>
            </a:r>
            <a:endParaRPr lang="en-US" sz="2400">
              <a:latin typeface="+mj-lt"/>
            </a:endParaRPr>
          </a:p>
          <a:p>
            <a:pPr marL="3429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Giải pháp: </a:t>
            </a:r>
            <a:r>
              <a:rPr lang="vi-VN" sz="2400">
                <a:latin typeface="+mj-lt"/>
              </a:rPr>
              <a:t>Xây dựng ứng dụng Web đa nền tảng, hỗ trợ song ngữ Khmer - Việt, nội dung địa phương hóa.</a:t>
            </a:r>
            <a:endParaRPr lang="en-US" sz="2400">
              <a:latin typeface="+mj-lt"/>
            </a:endParaRPr>
          </a:p>
          <a:p>
            <a:pPr marL="3429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Ý nghĩa:</a:t>
            </a:r>
            <a:r>
              <a:rPr lang="en-US" sz="2400" b="1">
                <a:latin typeface="+mj-lt"/>
              </a:rPr>
              <a:t> </a:t>
            </a:r>
            <a:r>
              <a:rPr lang="vi-VN" sz="2400">
                <a:latin typeface="+mj-lt"/>
              </a:rPr>
              <a:t>Công nghệ giáo dục nhân văn, giúp thu hẹp khoảng cách số và tri thức</a:t>
            </a:r>
          </a:p>
        </p:txBody>
      </p:sp>
    </p:spTree>
    <p:extLst>
      <p:ext uri="{BB962C8B-B14F-4D97-AF65-F5344CB8AC3E}">
        <p14:creationId xmlns:p14="http://schemas.microsoft.com/office/powerpoint/2010/main" val="234758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0932-1602-51B3-5DA4-484E4018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MỤC TIÊU NGHIÊN CỨU	</a:t>
            </a:r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5BAA0-553D-7EF4-5B5E-F36137C7C28F}"/>
              </a:ext>
            </a:extLst>
          </p:cNvPr>
          <p:cNvSpPr txBox="1"/>
          <p:nvPr/>
        </p:nvSpPr>
        <p:spPr>
          <a:xfrm>
            <a:off x="899413" y="1371600"/>
            <a:ext cx="73451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Xây dựng ứng dụng đa nền tảng</a:t>
            </a:r>
            <a:r>
              <a:rPr lang="vi-VN" sz="2400">
                <a:latin typeface="+mj-lt"/>
              </a:rPr>
              <a:t>: Hoạt động mượt mà trên thiết bị di động cấu hình thấp, giao diện tối giản.</a:t>
            </a:r>
            <a:endParaRPr lang="en-US" sz="2400">
              <a:latin typeface="+mj-lt"/>
            </a:endParaRPr>
          </a:p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Hỗ trợ đa ngữ</a:t>
            </a:r>
            <a:r>
              <a:rPr lang="vi-VN" sz="2400">
                <a:latin typeface="+mj-lt"/>
              </a:rPr>
              <a:t>: Tích hợp song song hướng dẫn tiếng Khmer và tiếng Việt để người học dễ tiếp thu.</a:t>
            </a:r>
            <a:endParaRPr lang="en-US" sz="2400">
              <a:latin typeface="+mj-lt"/>
            </a:endParaRPr>
          </a:p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Nội dung địa phương hóa</a:t>
            </a:r>
            <a:r>
              <a:rPr lang="vi-VN" sz="2400">
                <a:latin typeface="+mj-lt"/>
              </a:rPr>
              <a:t>: Các chủ đề gần gũi với đời sống nông thôn (gia đình, chợ, chùa...).</a:t>
            </a:r>
            <a:endParaRPr lang="en-US" sz="2400">
              <a:latin typeface="+mj-lt"/>
            </a:endParaRPr>
          </a:p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Chức năng</a:t>
            </a:r>
            <a:r>
              <a:rPr lang="vi-VN" sz="2400">
                <a:latin typeface="+mj-lt"/>
              </a:rPr>
              <a:t>: Theo dõi tiến trình, đánh giá năng lực người học.</a:t>
            </a:r>
          </a:p>
        </p:txBody>
      </p:sp>
    </p:spTree>
    <p:extLst>
      <p:ext uri="{BB962C8B-B14F-4D97-AF65-F5344CB8AC3E}">
        <p14:creationId xmlns:p14="http://schemas.microsoft.com/office/powerpoint/2010/main" val="67102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6240-AC32-9100-C613-3F798880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477054"/>
          </a:xfrm>
        </p:spPr>
        <p:txBody>
          <a:bodyPr/>
          <a:lstStyle/>
          <a:p>
            <a:r>
              <a:rPr lang="en-US" sz="3100"/>
              <a:t>ĐỐI TƯỢNG &amp; PHẠM VI NGHIÊN CỨU</a:t>
            </a:r>
            <a:endParaRPr lang="vi-VN" sz="3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D4822-63A6-5776-B1BE-0B903EA44C05}"/>
              </a:ext>
            </a:extLst>
          </p:cNvPr>
          <p:cNvSpPr txBox="1"/>
          <p:nvPr/>
        </p:nvSpPr>
        <p:spPr>
          <a:xfrm>
            <a:off x="862542" y="1524000"/>
            <a:ext cx="8015987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Đối tượng sử dụng:</a:t>
            </a:r>
            <a:endParaRPr lang="en-US" sz="2400" b="1">
              <a:latin typeface="+mj-lt"/>
            </a:endParaRPr>
          </a:p>
          <a:p>
            <a:pPr marL="457200"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400" b="1">
                <a:latin typeface="+mj-lt"/>
              </a:rPr>
              <a:t>Người học</a:t>
            </a:r>
            <a:r>
              <a:rPr lang="vi-VN" sz="2400">
                <a:latin typeface="+mj-lt"/>
              </a:rPr>
              <a:t>: Người dân tộc Khmer tại nông thôn, trình độ tin học cơ bản.</a:t>
            </a:r>
            <a:endParaRPr lang="en-US" sz="2400">
              <a:latin typeface="+mj-lt"/>
            </a:endParaRPr>
          </a:p>
          <a:p>
            <a:pPr marL="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400" b="1">
                <a:latin typeface="+mj-lt"/>
              </a:rPr>
              <a:t>Quản trị viên</a:t>
            </a:r>
            <a:r>
              <a:rPr lang="vi-VN" sz="2400">
                <a:latin typeface="+mj-lt"/>
              </a:rPr>
              <a:t>: Quản lý nội dung bài học và người dùng.</a:t>
            </a:r>
            <a:endParaRPr lang="en-US" sz="2400">
              <a:latin typeface="+mj-lt"/>
            </a:endParaRPr>
          </a:p>
          <a:p>
            <a:pPr marL="91440"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Phạm vi công nghệ:</a:t>
            </a:r>
            <a:r>
              <a:rPr lang="vi-VN" sz="2400">
                <a:latin typeface="+mj-lt"/>
              </a:rPr>
              <a:t> React (Frontend), Deno (Backend), MSSQL (Database).</a:t>
            </a:r>
            <a:endParaRPr lang="en-US" sz="2400">
              <a:latin typeface="+mj-lt"/>
            </a:endParaRPr>
          </a:p>
          <a:p>
            <a:pPr marL="91440"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Phạm vi không gian</a:t>
            </a:r>
            <a:r>
              <a:rPr lang="vi-VN" sz="2400">
                <a:latin typeface="+mj-lt"/>
              </a:rPr>
              <a:t>: Khảo sát và thử nghiệm tại các phum, sóc thuộc Trà Vinh và Sóc Trăng.</a:t>
            </a:r>
          </a:p>
        </p:txBody>
      </p:sp>
    </p:spTree>
    <p:extLst>
      <p:ext uri="{BB962C8B-B14F-4D97-AF65-F5344CB8AC3E}">
        <p14:creationId xmlns:p14="http://schemas.microsoft.com/office/powerpoint/2010/main" val="62222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F309-904E-7F77-92F7-044A7352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CÔNG NGHỆ SỬ DỤNG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6821-3475-1891-6F00-68D1CA456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43198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Frontend - ReactJS: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Thư viện xây dựng giao diện dựa trên Component.</a:t>
            </a:r>
            <a:endParaRPr lang="en-US" sz="2400" b="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Sử dụng Virtual DOM tối ưu hiệu năng.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Backend - Deno: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Môi trường thực thi JavaScript/TypeScript hiện đại, bảo mật cao (Sandbox).</a:t>
            </a:r>
            <a:endParaRPr lang="en-US" sz="2400" b="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Hỗ trợ TypeScript nguyên bản, không cần cấu hình phức tạp</a:t>
            </a:r>
            <a:r>
              <a:rPr lang="en-US" sz="2400" b="0"/>
              <a:t>.</a:t>
            </a:r>
            <a:endParaRPr lang="vi-VN" sz="2400" b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B26C6-277E-2390-F065-E189F455BF5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626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Database - MSSQL (SQL Server):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Hệ quản trị CSDL quan hệ uy tín, bảo mật cao.</a:t>
            </a:r>
            <a:endParaRPr lang="en-US" sz="2400" b="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Tuân thủ nghiêm ngặt các tính chất ACID để đảm bảo toàn vẹn dữ liệu.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Deployment - Docker: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Đảm bảo tính nhất quán giữa môi trường phát triển và vận hành.</a:t>
            </a:r>
          </a:p>
        </p:txBody>
      </p:sp>
    </p:spTree>
    <p:extLst>
      <p:ext uri="{BB962C8B-B14F-4D97-AF65-F5344CB8AC3E}">
        <p14:creationId xmlns:p14="http://schemas.microsoft.com/office/powerpoint/2010/main" val="389527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C09D-00D1-73F7-606D-82D27025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 sz="3300"/>
              <a:t>PHÂN TÍCH &amp; THIẾT KẾ HỆ THỐNG</a:t>
            </a:r>
            <a:endParaRPr lang="vi-VN" sz="33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F5CC3-A34C-F155-A702-D92EB0C74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77640" cy="4274820"/>
          </a:xfrm>
        </p:spPr>
        <p:txBody>
          <a:bodyPr wrap="square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Nhóm chức năng Người học</a:t>
            </a:r>
            <a:r>
              <a:rPr lang="vi-VN" sz="2200" b="0"/>
              <a:t>: Đăng ký/Đăng nhập, Xem bài học, Luyện tập, Xem tiến độ</a:t>
            </a:r>
            <a:r>
              <a:rPr lang="en-US" sz="2200" b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Nhóm chức năng Quản trị viên</a:t>
            </a:r>
            <a:r>
              <a:rPr lang="vi-VN" sz="2200" b="0"/>
              <a:t>: Quản lý bài học (Thêm/Sửa/Xóa), Quản lý người dùng, Xem báo cáo thống kê.</a:t>
            </a:r>
            <a:endParaRPr lang="en-US" sz="2200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Yêu cầu phi chức năng: </a:t>
            </a:r>
            <a:r>
              <a:rPr lang="vi-VN" sz="2200" b="0"/>
              <a:t>Hiệu năng phản hồi &lt; 3s, bảo mật mật khẩu, giao diện Responsive.</a:t>
            </a:r>
          </a:p>
        </p:txBody>
      </p:sp>
      <p:pic>
        <p:nvPicPr>
          <p:cNvPr id="5" name="Picture 4" descr="A screen shot of a cellphone&#10;&#10;AI-generated content may be incorrect.">
            <a:extLst>
              <a:ext uri="{FF2B5EF4-FFF2-40B4-BE49-F238E27FC236}">
                <a16:creationId xmlns:a16="http://schemas.microsoft.com/office/drawing/2014/main" id="{F1FA3DAB-634B-232C-DABD-752018B97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075" y="1577340"/>
            <a:ext cx="3971810" cy="4526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556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A334-8F09-2D4D-835C-5DEE03B5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KIẾN TRÚC HỆ THỐNG</a:t>
            </a:r>
            <a:endParaRPr lang="vi-V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E14E83-1D4A-E7D4-10AD-FFEF166840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1828800"/>
            <a:ext cx="3977640" cy="427482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Mô hình 3 tầng (3-Tier):</a:t>
            </a:r>
            <a:endParaRPr kumimoji="0" lang="vi-VN" altLang="vi-VN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Frontend:</a:t>
            </a:r>
            <a:r>
              <a:rPr kumimoji="0" lang="vi-VN" altLang="vi-VN" sz="2400" b="0" i="0" u="none" strike="noStrike" cap="none" normalizeH="0" baseline="0">
                <a:ln>
                  <a:noFill/>
                </a:ln>
                <a:effectLst/>
              </a:rPr>
              <a:t> ReactJS + TypeScript.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Backend:</a:t>
            </a:r>
            <a:r>
              <a:rPr kumimoji="0" lang="vi-VN" altLang="vi-VN" sz="2400" b="0" i="0" u="none" strike="noStrike" cap="none" normalizeH="0" baseline="0">
                <a:ln>
                  <a:noFill/>
                </a:ln>
                <a:effectLst/>
              </a:rPr>
              <a:t> Deno (RESTful API).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Database:</a:t>
            </a:r>
            <a:r>
              <a:rPr kumimoji="0" lang="vi-VN" altLang="vi-VN" sz="2400" b="0" i="0" u="none" strike="noStrike" cap="none" normalizeH="0" baseline="0">
                <a:ln>
                  <a:noFill/>
                </a:ln>
                <a:effectLst/>
              </a:rPr>
              <a:t> MSSQL.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vi-VN" altLang="vi-VN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9D3FE0-B992-B572-0220-BFE736C05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100" y="1577340"/>
            <a:ext cx="3575760" cy="4526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472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A09B-968E-B980-032C-F72611F3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CƠ SỞ DỮ LIỆU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D4E8B-EA4E-E2A9-AB31-B51660B77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362200"/>
            <a:ext cx="3977640" cy="3741420"/>
          </a:xfrm>
        </p:spPr>
        <p:txBody>
          <a:bodyPr wrap="square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/>
              <a:t>Các bảng chính: </a:t>
            </a:r>
            <a:r>
              <a:rPr lang="vi-VN" sz="2400" b="0"/>
              <a:t>users, user_lesson_progress, lesson_comments.</a:t>
            </a:r>
            <a:endParaRPr lang="en-US" sz="2400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b="0"/>
              <a:t>Quan hệ chặt chẽ, chuẩn hóa để tránh dư thừa dữ liệu.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6387B70D-2462-7E5D-F5B8-E305AE5C8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572" y="1577340"/>
            <a:ext cx="3326816" cy="4526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620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6A1F-A3C9-DA37-5B91-ED187E97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THIẾT KẾ GIAO DIỆN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8200B-CF83-FBDB-2A03-EDA0E8A28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246" y="1767006"/>
            <a:ext cx="7723505" cy="29546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Nguyên tắc: </a:t>
            </a:r>
            <a:r>
              <a:rPr lang="vi-VN" sz="2400" b="0"/>
              <a:t>Đơn giản, trực quan, phù hợp với người ít tiếp xúc công nghệ.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Các màn hình chính:</a:t>
            </a:r>
            <a:endParaRPr lang="en-US" sz="2400"/>
          </a:p>
          <a:p>
            <a:pPr marL="365760">
              <a:buFont typeface="Courier New" panose="02070309020205020404" pitchFamily="49" charset="0"/>
              <a:buChar char="o"/>
            </a:pPr>
            <a:r>
              <a:rPr lang="vi-VN" sz="2400"/>
              <a:t>Trang chào mừng:</a:t>
            </a:r>
            <a:r>
              <a:rPr lang="vi-VN" sz="2400" b="0"/>
              <a:t> Màu sắc thân thiện, nút bấm rõ ràng.</a:t>
            </a:r>
            <a:endParaRPr lang="en-US" sz="2400" b="0"/>
          </a:p>
          <a:p>
            <a:pPr marL="365760">
              <a:buFont typeface="Courier New" panose="02070309020205020404" pitchFamily="49" charset="0"/>
              <a:buChar char="o"/>
            </a:pPr>
            <a:r>
              <a:rPr lang="vi-VN" sz="2400"/>
              <a:t>Trang bài học: </a:t>
            </a:r>
            <a:r>
              <a:rPr lang="vi-VN" sz="2400" b="0"/>
              <a:t>Hiển thị văn bản, hình ảnh, video và hỗ trợ đổi ngôn ngữ.</a:t>
            </a:r>
            <a:endParaRPr lang="en-US" sz="2400" b="0"/>
          </a:p>
          <a:p>
            <a:pPr marL="365760">
              <a:buFont typeface="Courier New" panose="02070309020205020404" pitchFamily="49" charset="0"/>
              <a:buChar char="o"/>
            </a:pPr>
            <a:r>
              <a:rPr lang="vi-VN" sz="2400"/>
              <a:t>Trang luyện tập: </a:t>
            </a:r>
            <a:r>
              <a:rPr lang="vi-VN" sz="2400" b="0"/>
              <a:t>Trắc nghiệm, hiển thị kết quả ngay lập tức.</a:t>
            </a:r>
          </a:p>
        </p:txBody>
      </p:sp>
    </p:spTree>
    <p:extLst>
      <p:ext uri="{BB962C8B-B14F-4D97-AF65-F5344CB8AC3E}">
        <p14:creationId xmlns:p14="http://schemas.microsoft.com/office/powerpoint/2010/main" val="561669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B216-2659-09A4-7AFD-94CFEE25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KẾT QUẢ TRIỂN KHAI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11D1C-FF28-ADDB-A30C-65C5E0D01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33600"/>
            <a:ext cx="3977640" cy="3970020"/>
          </a:xfrm>
        </p:spPr>
        <p:txBody>
          <a:bodyPr wrap="square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Quản lý bài học: </a:t>
            </a:r>
            <a:r>
              <a:rPr lang="vi-VN" b="0"/>
              <a:t>Tổ chức phân cấp (Khóa học -&gt; Chủ đề -&gt; Bài học).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Đa phương tiện: </a:t>
            </a:r>
            <a:r>
              <a:rPr lang="vi-VN" b="0"/>
              <a:t>Tích hợp Video/Audio player tùy chỉnh.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Đa ngôn ngữ:</a:t>
            </a:r>
            <a:r>
              <a:rPr lang="vi-VN" b="0"/>
              <a:t> Chuyển đổi linh hoạt giữa Tiếng Việt - Khmer - Anh mà không cần tải lại trang (nhờ react-i18next).</a:t>
            </a:r>
            <a:endParaRPr lang="en-US" b="0"/>
          </a:p>
        </p:txBody>
      </p:sp>
      <p:pic>
        <p:nvPicPr>
          <p:cNvPr id="3074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075D2D02-5DA6-BE60-AEBC-2C9B4F187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771"/>
          <a:stretch>
            <a:fillRect/>
          </a:stretch>
        </p:blipFill>
        <p:spPr bwMode="auto">
          <a:xfrm>
            <a:off x="4709160" y="2133600"/>
            <a:ext cx="3977640" cy="280297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3000" sy="103000" algn="ctr" rotWithShape="0">
              <a:prstClr val="black">
                <a:alpha val="40000"/>
              </a:prstClr>
            </a:outerShdw>
            <a:softEdge rad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4257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A25F-392B-629B-6BA9-2EC8DB83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KẾT QUẢ TRIỂN KHAI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91F78-588D-64CB-BC91-6E62D9202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</p:spPr>
        <p:txBody>
          <a:bodyPr wrap="square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Dạng bài tập: </a:t>
            </a:r>
            <a:r>
              <a:rPr lang="vi-VN" b="0"/>
              <a:t>Trắc nghiệm, điền từ, ghép cặp.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Phản hồi: </a:t>
            </a:r>
            <a:r>
              <a:rPr lang="vi-VN" b="0"/>
              <a:t>Hệ thống chấm điểm tự động và giải thích chi tiết đáp án đúng/sai.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Lưu tiến độ: </a:t>
            </a:r>
            <a:r>
              <a:rPr lang="vi-VN" b="0"/>
              <a:t>Cập nhật trạng thái hoàn thành vào CSDL qua API, hiển thị thanh tiến trình trực quan.</a:t>
            </a:r>
          </a:p>
        </p:txBody>
      </p:sp>
      <p:pic>
        <p:nvPicPr>
          <p:cNvPr id="4098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9B448A1E-BBEA-9EB3-ED60-5FC9FB6AC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6" t="37500" b="16864"/>
          <a:stretch>
            <a:fillRect/>
          </a:stretch>
        </p:blipFill>
        <p:spPr bwMode="auto">
          <a:xfrm>
            <a:off x="4709160" y="1737735"/>
            <a:ext cx="3977640" cy="420548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942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63F6-4602-814A-2FB7-B036B5F6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TRIỂN KHAI &amp; KIỂM THỬ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E50EC-386C-BD83-25CF-3C5F5EF92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9078" y="1745284"/>
            <a:ext cx="7771384" cy="3367431"/>
          </a:xfrm>
        </p:spPr>
        <p:txBody>
          <a:bodyPr/>
          <a:lstStyle/>
          <a:p>
            <a:r>
              <a:rPr lang="vi-VN" sz="2400"/>
              <a:t>Môi trường: </a:t>
            </a:r>
            <a:r>
              <a:rPr lang="vi-VN" sz="2400" b="0"/>
              <a:t>Triển khai bằng Docker Compose (gồm 3 services: db, backend, frontend).</a:t>
            </a:r>
            <a:endParaRPr lang="en-US" sz="2400" b="0"/>
          </a:p>
          <a:p>
            <a:r>
              <a:rPr lang="vi-VN" sz="2400"/>
              <a:t>Kết quả kiểm thử chức năng: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Xác thực</a:t>
            </a:r>
            <a:r>
              <a:rPr lang="vi-VN" sz="2400" b="0"/>
              <a:t>: Đăng ký/Đăng nhập thành công, token JWT hoạt động đúng.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Tiến độ: </a:t>
            </a:r>
            <a:r>
              <a:rPr lang="vi-VN" sz="2400" b="0"/>
              <a:t>Ghi nhận chính xác thời gian học và trạng thái hoàn thành.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API: </a:t>
            </a:r>
            <a:r>
              <a:rPr lang="vi-VN" sz="2400" b="0"/>
              <a:t>Phản hồi nhanh, xử lý lỗi tốt (kiểm tra bằng Postman).</a:t>
            </a:r>
          </a:p>
        </p:txBody>
      </p:sp>
    </p:spTree>
    <p:extLst>
      <p:ext uri="{BB962C8B-B14F-4D97-AF65-F5344CB8AC3E}">
        <p14:creationId xmlns:p14="http://schemas.microsoft.com/office/powerpoint/2010/main" val="244901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0329-310C-A0A4-8D07-C31063EF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KẾT LUẬN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C4D18-DC84-6E6E-DD50-9E7115DE5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416" y="1356969"/>
            <a:ext cx="7723505" cy="3323987"/>
          </a:xfrm>
        </p:spPr>
        <p:txBody>
          <a:bodyPr/>
          <a:lstStyle/>
          <a:p>
            <a:r>
              <a:rPr lang="vi-VN" sz="2400"/>
              <a:t>Đạt được: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Hệ thống hoạt động ổn định trên nền tảng React, Deno, MSSQL.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Giao diện thân thiện, hỗ trợ tốt đa ngữ (Khmer - Việt).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Đáp ứng nhu cầu học tập cơ bản của người Khmer vùng nông thôn.</a:t>
            </a:r>
            <a:endParaRPr lang="en-US" sz="2400" b="0"/>
          </a:p>
          <a:p>
            <a:r>
              <a:rPr lang="vi-VN" sz="2400"/>
              <a:t>Hạn chế: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Chưa </a:t>
            </a:r>
            <a:r>
              <a:rPr lang="en-US" sz="2400" b="0"/>
              <a:t>tích hợp </a:t>
            </a:r>
            <a:r>
              <a:rPr lang="vi-VN" sz="2400" b="0"/>
              <a:t>Chatbot AI hỗ trợ học tập</a:t>
            </a:r>
            <a:r>
              <a:rPr lang="en-US" sz="2400" b="0"/>
              <a:t> hoàn chỉnh</a:t>
            </a:r>
            <a:r>
              <a:rPr lang="vi-VN" sz="2400" b="0"/>
              <a:t>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Chưa có phân hệ khảo sát ý kiến chuyên sâu.</a:t>
            </a:r>
          </a:p>
        </p:txBody>
      </p:sp>
    </p:spTree>
    <p:extLst>
      <p:ext uri="{BB962C8B-B14F-4D97-AF65-F5344CB8AC3E}">
        <p14:creationId xmlns:p14="http://schemas.microsoft.com/office/powerpoint/2010/main" val="353257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28CD-D561-FEEE-EB53-4751EE00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HƯỚNG PHÁT TRIỂN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2F6FB-BD8D-96BA-08DF-14F3CB62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107" y="2057400"/>
            <a:ext cx="7923784" cy="2971800"/>
          </a:xfrm>
        </p:spPr>
        <p:txBody>
          <a:bodyPr/>
          <a:lstStyle/>
          <a:p>
            <a:r>
              <a:rPr lang="vi-VN" sz="2400"/>
              <a:t>Nội dung: </a:t>
            </a:r>
            <a:endParaRPr lang="en-US" sz="2400"/>
          </a:p>
          <a:p>
            <a:pPr indent="365760"/>
            <a:r>
              <a:rPr lang="vi-VN" sz="2400" b="0"/>
              <a:t>Bổ sung bài học nâng cao, kỹ năng nghe - nói phức tạp hơn.</a:t>
            </a:r>
            <a:endParaRPr lang="en-US" sz="2400" b="0"/>
          </a:p>
          <a:p>
            <a:r>
              <a:rPr lang="vi-VN" sz="2400"/>
              <a:t>Tính năng: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Chế độ Offline (tải bài học về máy).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Phát triển phiên bản Mobile App (Native/Hybrid).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Gamification: </a:t>
            </a:r>
            <a:r>
              <a:rPr lang="vi-VN" sz="2400" b="0"/>
              <a:t>Thêm bảng xếp hạng, điểm thưởng để tạo động lực</a:t>
            </a:r>
          </a:p>
        </p:txBody>
      </p:sp>
    </p:spTree>
    <p:extLst>
      <p:ext uri="{BB962C8B-B14F-4D97-AF65-F5344CB8AC3E}">
        <p14:creationId xmlns:p14="http://schemas.microsoft.com/office/powerpoint/2010/main" val="224863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FF32-3F47-826A-F67F-F0E1954AC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162300"/>
            <a:ext cx="2819400" cy="533400"/>
          </a:xfrm>
        </p:spPr>
        <p:txBody>
          <a:bodyPr/>
          <a:lstStyle/>
          <a:p>
            <a:r>
              <a:rPr lang="en-US"/>
              <a:t>THANK YOU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155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1629</TotalTime>
  <Words>1089</Words>
  <Application>Microsoft Office PowerPoint</Application>
  <PresentationFormat>On-screen Show (4:3)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Courier New</vt:lpstr>
      <vt:lpstr>Impact</vt:lpstr>
      <vt:lpstr>Times New Roman</vt:lpstr>
      <vt:lpstr>Office Theme</vt:lpstr>
      <vt:lpstr>TRƯỜNG ĐẠI HỌC TRÀ VINH</vt:lpstr>
      <vt:lpstr>ĐẶT VẤN ĐỀ</vt:lpstr>
      <vt:lpstr>LÝ DO CHỌN ĐỀ TÀI</vt:lpstr>
      <vt:lpstr>MỤC TIÊU NGHIÊN CỨU </vt:lpstr>
      <vt:lpstr>ĐỐI TƯỢNG &amp; PHẠM VI NGHIÊN CỨU</vt:lpstr>
      <vt:lpstr>CÔNG NGHỆ SỬ DỤNG</vt:lpstr>
      <vt:lpstr>PHÂN TÍCH &amp; THIẾT KẾ HỆ THỐNG</vt:lpstr>
      <vt:lpstr>KIẾN TRÚC HỆ THỐNG</vt:lpstr>
      <vt:lpstr>CƠ SỞ DỮ LIỆU</vt:lpstr>
      <vt:lpstr>THIẾT KẾ GIAO DIỆN</vt:lpstr>
      <vt:lpstr>KẾT QUẢ TRIỂN KHAI</vt:lpstr>
      <vt:lpstr>KẾT QUẢ TRIỂN KHAI</vt:lpstr>
      <vt:lpstr>TRIỂN KHAI &amp; KIỂM THỬ</vt:lpstr>
      <vt:lpstr>KẾT LUẬN</vt:lpstr>
      <vt:lpstr>HƯỚNG PHÁT TRIỂN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 Rain</dc:creator>
  <cp:lastModifiedBy>Trang Tran</cp:lastModifiedBy>
  <cp:revision>21</cp:revision>
  <dcterms:created xsi:type="dcterms:W3CDTF">2025-06-09T12:08:44Z</dcterms:created>
  <dcterms:modified xsi:type="dcterms:W3CDTF">2025-12-27T11:20:10Z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2025-06-09T00:00:00Z</vt:filetime>
  </property>
  <property fmtid="{D5CDD505-2E9C-101B-9397-08002B2CF9AE}" pid="5" name="Producer">
    <vt:lpwstr>Microsoft® PowerPoint® 2010</vt:lpwstr>
  </property>
</Properties>
</file>